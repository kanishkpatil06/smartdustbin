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594360"/>
            <a:ext cx="2651760" cy="2651760"/>
          </a:xfrm>
          <a:prstGeom prst="ellipse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1143000"/>
            <a:ext cx="1691640" cy="1691640"/>
          </a:xfrm>
          <a:prstGeom prst="ellipse">
            <a:avLst/>
          </a:prstGeom>
          <a:solidFill>
            <a:srgbClr val="123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1600200"/>
            <a:ext cx="777240" cy="777240"/>
          </a:xfrm>
          <a:prstGeom prst="ellipse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5029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00D2BE"/>
                </a:solidFill>
                <a:latin typeface="Aptos"/>
              </a:defRPr>
            </a:pPr>
            <a:r>
              <a:t>ENGINEERING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6766560" cy="18745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4200" b="1" i="0">
                <a:solidFill>
                  <a:srgbClr val="F4F8FA"/>
                </a:solidFill>
                <a:latin typeface="Aptos"/>
              </a:defRPr>
            </a:pPr>
            <a:r>
              <a:t>SMART</a:t>
            </a:r>
          </a:p>
          <a:p>
            <a:pPr algn="l">
              <a:spcAft>
                <a:spcPts val="700"/>
              </a:spcAft>
              <a:defRPr sz="4200" b="1" i="0">
                <a:solidFill>
                  <a:srgbClr val="F4F8FA"/>
                </a:solidFill>
                <a:latin typeface="Aptos"/>
              </a:defRPr>
            </a:pPr>
            <a:r>
              <a:t>DUSTBIN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667512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900" b="0" i="0">
                <a:solidFill>
                  <a:srgbClr val="B2C4CC"/>
                </a:solidFill>
                <a:latin typeface="Aptos"/>
              </a:defRPr>
            </a:pPr>
            <a:r>
              <a:t>Touchless waste disposal using Arduino and an ultrasonic sensor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43400"/>
            <a:ext cx="2103120" cy="502920"/>
          </a:xfrm>
          <a:prstGeom prst="round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920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060F17"/>
                </a:solidFill>
                <a:latin typeface="Aptos"/>
              </a:defRPr>
            </a:pPr>
            <a:r>
              <a:t>AUTOMATION  •  HYGIENE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3063240"/>
            <a:ext cx="2103120" cy="2011680"/>
          </a:xfrm>
          <a:prstGeom prst="roundRect">
            <a:avLst/>
          </a:prstGeom>
          <a:solidFill>
            <a:srgbClr val="244B53"/>
          </a:solidFill>
          <a:ln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0" y="2788920"/>
            <a:ext cx="2560320" cy="320040"/>
          </a:xfrm>
          <a:prstGeom prst="round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72600" y="3383280"/>
            <a:ext cx="640080" cy="73152"/>
          </a:xfrm>
          <a:prstGeom prst="rect">
            <a:avLst/>
          </a:prstGeom>
          <a:solidFill>
            <a:srgbClr val="A5E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3703320"/>
            <a:ext cx="1554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F4F8FA"/>
                </a:solidFill>
                <a:latin typeface="Aptos"/>
              </a:defRPr>
            </a:pPr>
            <a:r>
              <a:t>HC-SR04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160520"/>
            <a:ext cx="2011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B2C4CC"/>
                </a:solidFill>
                <a:latin typeface="Aptos"/>
              </a:defRPr>
            </a:pPr>
            <a:r>
              <a:t>Arduino Uno + Servo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5303520"/>
            <a:ext cx="3977639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100" b="1" i="0">
                <a:solidFill>
                  <a:srgbClr val="00D2BE"/>
                </a:solidFill>
                <a:latin typeface="Aptos"/>
              </a:defRPr>
            </a:pPr>
            <a:r>
              <a:t>GROUP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5559552"/>
            <a:ext cx="3977639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200" b="0" i="0">
                <a:solidFill>
                  <a:srgbClr val="F4F8FA"/>
                </a:solidFill>
                <a:latin typeface="Aptos"/>
              </a:defRPr>
            </a:pPr>
            <a:r>
              <a:t>1. Shaur Shaikh</a:t>
            </a:r>
          </a:p>
          <a:p>
            <a:pPr algn="r">
              <a:spcAft>
                <a:spcPts val="700"/>
              </a:spcAft>
              <a:defRPr sz="1200" b="0" i="0">
                <a:solidFill>
                  <a:srgbClr val="F4F8FA"/>
                </a:solidFill>
                <a:latin typeface="Aptos"/>
              </a:defRPr>
            </a:pPr>
            <a:r>
              <a:t>2. Suyash Hatankar</a:t>
            </a:r>
          </a:p>
          <a:p>
            <a:pPr algn="r">
              <a:spcAft>
                <a:spcPts val="700"/>
              </a:spcAft>
              <a:defRPr sz="1200" b="0" i="0">
                <a:solidFill>
                  <a:srgbClr val="F4F8FA"/>
                </a:solidFill>
                <a:latin typeface="Aptos"/>
              </a:defRPr>
            </a:pPr>
            <a:r>
              <a:t>3. Kanishk Patil</a:t>
            </a:r>
          </a:p>
          <a:p>
            <a:pPr algn="r">
              <a:spcAft>
                <a:spcPts val="700"/>
              </a:spcAft>
              <a:defRPr sz="1200" b="0" i="0">
                <a:solidFill>
                  <a:srgbClr val="F4F8FA"/>
                </a:solidFill>
                <a:latin typeface="Aptos"/>
              </a:defRPr>
            </a:pPr>
            <a:r>
              <a:t>4. Siddhi Aghav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D2BE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704088"/>
            <a:ext cx="640080" cy="41148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69880" y="320040"/>
            <a:ext cx="1097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B2C4CC"/>
                </a:solidFill>
                <a:latin typeface="Aptos"/>
              </a:defRPr>
            </a:pPr>
            <a:r>
              <a:t>02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3000" b="1" i="0">
                <a:solidFill>
                  <a:srgbClr val="F4F8FA"/>
                </a:solidFill>
                <a:latin typeface="Aptos"/>
              </a:defRPr>
            </a:pPr>
            <a:r>
              <a:t>What is a Smart Dustbin?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64208"/>
            <a:ext cx="10881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B2C4CC"/>
                </a:solidFill>
                <a:latin typeface="Aptos"/>
              </a:defRPr>
            </a:pPr>
            <a:r>
              <a:t>A simple automated bin that opens without the user touching the lid.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2C4CC"/>
                </a:solidFill>
                <a:latin typeface="Aptos"/>
              </a:defRPr>
            </a:pPr>
            <a:r>
              <a:t>SMART DUSTBIN  •  MINI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2D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3429000" cy="201168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31720"/>
            <a:ext cx="64008" cy="201168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96312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D2BE"/>
                </a:solidFill>
                <a:latin typeface="Aptos"/>
              </a:defRPr>
            </a:pPr>
            <a:r>
              <a:t>TOUCHLESS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26079"/>
            <a:ext cx="3044952" cy="1298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4F8FA"/>
                </a:solidFill>
                <a:latin typeface="Aptos"/>
              </a:defRPr>
            </a:pPr>
            <a:r>
              <a:t>The lid opens when a hand or object comes near the sensor.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331720"/>
            <a:ext cx="3429000" cy="201168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331720"/>
            <a:ext cx="64008" cy="2011680"/>
          </a:xfrm>
          <a:prstGeom prst="rect">
            <a:avLst/>
          </a:prstGeom>
          <a:solidFill>
            <a:srgbClr val="A5E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496312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A5EB5A"/>
                </a:solidFill>
                <a:latin typeface="Aptos"/>
              </a:defRPr>
            </a:pPr>
            <a:r>
              <a:t>AUTOMATIC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926079"/>
            <a:ext cx="3044952" cy="1298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4F8FA"/>
                </a:solidFill>
                <a:latin typeface="Aptos"/>
              </a:defRPr>
            </a:pPr>
            <a:r>
              <a:t>Arduino processes the sensor reading and controls the servo motor.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331720"/>
            <a:ext cx="3429000" cy="201168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331720"/>
            <a:ext cx="64008" cy="201168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496312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D2BE"/>
                </a:solidFill>
                <a:latin typeface="Aptos"/>
              </a:defRPr>
            </a:pPr>
            <a:r>
              <a:t>HYGIENIC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926079"/>
            <a:ext cx="3044952" cy="1298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4F8FA"/>
                </a:solidFill>
                <a:latin typeface="Aptos"/>
              </a:defRPr>
            </a:pPr>
            <a:r>
              <a:t>Reduces direct contact with the bin lid and supports cleaner disposal.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D2BE"/>
                </a:solidFill>
                <a:latin typeface="Aptos"/>
              </a:defRPr>
            </a:pPr>
            <a:r>
              <a:t>NEED FOR THE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704088"/>
            <a:ext cx="640080" cy="41148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69880" y="320040"/>
            <a:ext cx="1097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B2C4CC"/>
                </a:solidFill>
                <a:latin typeface="Aptos"/>
              </a:defRPr>
            </a:pPr>
            <a:r>
              <a:t>03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3000" b="1" i="0">
                <a:solidFill>
                  <a:srgbClr val="F4F8F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64208"/>
            <a:ext cx="10881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B2C4CC"/>
                </a:solidFill>
                <a:latin typeface="Aptos"/>
              </a:defRPr>
            </a:pPr>
            <a:r>
              <a:t>Traditional bins often require users to touch the lid or pedal.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2C4CC"/>
                </a:solidFill>
                <a:latin typeface="Aptos"/>
              </a:defRPr>
            </a:pPr>
            <a:r>
              <a:t>SMART DUSTBIN  •  MINI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2D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359152"/>
            <a:ext cx="118872" cy="118872"/>
          </a:xfrm>
          <a:prstGeom prst="ellipse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240280"/>
            <a:ext cx="477316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D2BE"/>
                </a:solidFill>
                <a:latin typeface="Aptos"/>
              </a:defRPr>
            </a:pPr>
            <a:r>
              <a:t>Hygiene concerns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551176"/>
            <a:ext cx="47091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4F8FA"/>
                </a:solidFill>
                <a:latin typeface="Aptos"/>
              </a:defRPr>
            </a:pPr>
            <a:r>
              <a:t>Touching a shared bin lid can spread dirt and germs.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47872"/>
            <a:ext cx="118872" cy="118872"/>
          </a:xfrm>
          <a:prstGeom prst="ellipse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429000"/>
            <a:ext cx="477316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D2BE"/>
                </a:solidFill>
                <a:latin typeface="Aptos"/>
              </a:defRPr>
            </a:pPr>
            <a:r>
              <a:t>Everyday inconvenience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739896"/>
            <a:ext cx="47091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4F8FA"/>
                </a:solidFill>
                <a:latin typeface="Aptos"/>
              </a:defRPr>
            </a:pPr>
            <a:r>
              <a:t>Opening a bin can be difficult when hands are full.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359152"/>
            <a:ext cx="118872" cy="118872"/>
          </a:xfrm>
          <a:prstGeom prst="ellipse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240280"/>
            <a:ext cx="477316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D2BE"/>
                </a:solidFill>
                <a:latin typeface="Aptos"/>
              </a:defRPr>
            </a:pPr>
            <a:r>
              <a:t>Poor waste habits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551176"/>
            <a:ext cx="47091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4F8FA"/>
                </a:solidFill>
                <a:latin typeface="Aptos"/>
              </a:defRPr>
            </a:pPr>
            <a:r>
              <a:t>A convenient bin can encourage people to dispose of waste properly.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547872"/>
            <a:ext cx="118872" cy="118872"/>
          </a:xfrm>
          <a:prstGeom prst="ellipse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429000"/>
            <a:ext cx="477316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D2BE"/>
                </a:solidFill>
                <a:latin typeface="Aptos"/>
              </a:defRPr>
            </a:pPr>
            <a:r>
              <a:t>Need for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739896"/>
            <a:ext cx="47091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4F8FA"/>
                </a:solidFill>
                <a:latin typeface="Aptos"/>
              </a:defRPr>
            </a:pPr>
            <a:r>
              <a:t>Low-cost sensors and microcontrollers can automate simple tasks.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D2BE"/>
                </a:solidFill>
                <a:latin typeface="Aptos"/>
              </a:defRPr>
            </a:pPr>
            <a:r>
              <a:t>PROJECT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704088"/>
            <a:ext cx="640080" cy="41148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69880" y="320040"/>
            <a:ext cx="1097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B2C4CC"/>
                </a:solidFill>
                <a:latin typeface="Aptos"/>
              </a:defRPr>
            </a:pPr>
            <a:r>
              <a:t>04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3000" b="1" i="0">
                <a:solidFill>
                  <a:srgbClr val="F4F8FA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64208"/>
            <a:ext cx="10881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B2C4CC"/>
                </a:solidFill>
                <a:latin typeface="Aptos"/>
              </a:defRPr>
            </a:pPr>
            <a:r>
              <a:t>What this project aims to achieve.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2C4CC"/>
                </a:solidFill>
                <a:latin typeface="Aptos"/>
              </a:defRPr>
            </a:pPr>
            <a:r>
              <a:t>SMART DUSTBIN  •  MINI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2D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240280"/>
            <a:ext cx="5120640" cy="123444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46888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200" b="1" i="0">
                <a:solidFill>
                  <a:srgbClr val="00D2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423160"/>
            <a:ext cx="3931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4F8FA"/>
                </a:solidFill>
                <a:latin typeface="Aptos"/>
              </a:defRPr>
            </a:pPr>
            <a:r>
              <a:t>Detect nearby objects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807208"/>
            <a:ext cx="38862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4CC"/>
                </a:solidFill>
                <a:latin typeface="Aptos"/>
              </a:defRPr>
            </a:pPr>
            <a:r>
              <a:t>Use the HC-SR04 ultrasonic sensor.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240280"/>
            <a:ext cx="5120640" cy="123444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7" y="246888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200" b="1" i="0">
                <a:solidFill>
                  <a:srgbClr val="00D2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9" y="2423160"/>
            <a:ext cx="3931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4F8FA"/>
                </a:solidFill>
                <a:latin typeface="Aptos"/>
              </a:defRPr>
            </a:pPr>
            <a:r>
              <a:t>Open the lid automatically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59" y="2807208"/>
            <a:ext cx="38862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4CC"/>
                </a:solidFill>
                <a:latin typeface="Aptos"/>
              </a:defRPr>
            </a:pPr>
            <a:r>
              <a:t>Move the lid using a servo motor.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40480"/>
            <a:ext cx="5120640" cy="123444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406908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200" b="1" i="0">
                <a:solidFill>
                  <a:srgbClr val="00D2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023360"/>
            <a:ext cx="3931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4F8FA"/>
                </a:solidFill>
                <a:latin typeface="Aptos"/>
              </a:defRPr>
            </a:pPr>
            <a:r>
              <a:t>Close after a short delay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07408"/>
            <a:ext cx="38862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4CC"/>
                </a:solidFill>
                <a:latin typeface="Aptos"/>
              </a:defRPr>
            </a:pPr>
            <a:r>
              <a:t>Return the lid to its closed position.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3840480"/>
            <a:ext cx="5120640" cy="123444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7" y="406908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200" b="1" i="0">
                <a:solidFill>
                  <a:srgbClr val="00D2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59" y="4023360"/>
            <a:ext cx="3931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4F8FA"/>
                </a:solidFill>
                <a:latin typeface="Aptos"/>
              </a:defRPr>
            </a:pPr>
            <a:r>
              <a:t>Build at low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4407408"/>
            <a:ext cx="38862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4CC"/>
                </a:solidFill>
                <a:latin typeface="Aptos"/>
              </a:defRPr>
            </a:pPr>
            <a:r>
              <a:t>Use simple, commonly available components.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D2BE"/>
                </a:solidFill>
                <a:latin typeface="Aptos"/>
              </a:defRPr>
            </a:pPr>
            <a:r>
              <a:t>HARDWARE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704088"/>
            <a:ext cx="640080" cy="41148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69880" y="320040"/>
            <a:ext cx="1097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B2C4CC"/>
                </a:solidFill>
                <a:latin typeface="Aptos"/>
              </a:defRPr>
            </a:pPr>
            <a:r>
              <a:t>05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3000" b="1" i="0">
                <a:solidFill>
                  <a:srgbClr val="F4F8FA"/>
                </a:solidFill>
                <a:latin typeface="Aptos"/>
              </a:defRPr>
            </a:pPr>
            <a:r>
              <a:t>Components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64208"/>
            <a:ext cx="10881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B2C4CC"/>
                </a:solidFill>
                <a:latin typeface="Aptos"/>
              </a:defRPr>
            </a:pPr>
            <a:r>
              <a:t>The main parts used to build the prototype.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2C4CC"/>
                </a:solidFill>
                <a:latin typeface="Aptos"/>
              </a:defRPr>
            </a:pPr>
            <a:r>
              <a:t>SMART DUSTBIN  •  MINI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2D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3429000" cy="132588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64008" cy="132588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67712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D2BE"/>
                </a:solidFill>
                <a:latin typeface="Aptos"/>
              </a:defRPr>
            </a:pPr>
            <a:r>
              <a:t>Arduino Uno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697479"/>
            <a:ext cx="3044952" cy="6126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4F8FA"/>
                </a:solidFill>
                <a:latin typeface="Aptos"/>
              </a:defRPr>
            </a:pPr>
            <a:r>
              <a:t>The controller that reads sensor data and commands the servo.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103120"/>
            <a:ext cx="3429000" cy="132588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2103120"/>
            <a:ext cx="64008" cy="1325880"/>
          </a:xfrm>
          <a:prstGeom prst="rect">
            <a:avLst/>
          </a:prstGeom>
          <a:solidFill>
            <a:srgbClr val="A5E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267712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A5EB5A"/>
                </a:solidFill>
                <a:latin typeface="Aptos"/>
              </a:defRPr>
            </a:pPr>
            <a:r>
              <a:t>HC-SR04 ultrasonic sensor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697479"/>
            <a:ext cx="3044952" cy="6126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4F8FA"/>
                </a:solidFill>
                <a:latin typeface="Aptos"/>
              </a:defRPr>
            </a:pPr>
            <a:r>
              <a:t>Measures distance to a hand or object in front of the bin.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103120"/>
            <a:ext cx="3429000" cy="132588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2103120"/>
            <a:ext cx="64008" cy="132588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2267712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D2BE"/>
                </a:solidFill>
                <a:latin typeface="Aptos"/>
              </a:defRPr>
            </a:pPr>
            <a:r>
              <a:t>Servo motor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697479"/>
            <a:ext cx="3044952" cy="6126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4F8FA"/>
                </a:solidFill>
                <a:latin typeface="Aptos"/>
              </a:defRPr>
            </a:pPr>
            <a:r>
              <a:t>Moves the lid open and closed.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49039"/>
            <a:ext cx="3429000" cy="132588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749039"/>
            <a:ext cx="64008" cy="1325880"/>
          </a:xfrm>
          <a:prstGeom prst="rect">
            <a:avLst/>
          </a:prstGeom>
          <a:solidFill>
            <a:srgbClr val="A5E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913631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A5EB5A"/>
                </a:solidFill>
                <a:latin typeface="Aptos"/>
              </a:defRPr>
            </a:pPr>
            <a:r>
              <a:t>9V battery + connector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343400"/>
            <a:ext cx="3044952" cy="6126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4F8FA"/>
                </a:solidFill>
                <a:latin typeface="Aptos"/>
              </a:defRPr>
            </a:pPr>
            <a:r>
              <a:t>Provides power for the prototype; check suitable power regulation.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3749039"/>
            <a:ext cx="3429000" cy="132588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80" y="3749039"/>
            <a:ext cx="64008" cy="132588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27448" y="3913631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D2BE"/>
                </a:solidFill>
                <a:latin typeface="Aptos"/>
              </a:defRPr>
            </a:pPr>
            <a:r>
              <a:t>Jumper wires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7448" y="4343400"/>
            <a:ext cx="3044952" cy="6126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4F8FA"/>
                </a:solidFill>
                <a:latin typeface="Aptos"/>
              </a:defRPr>
            </a:pPr>
            <a:r>
              <a:t>Connect the sensor, servo and controller.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3749039"/>
            <a:ext cx="3429000" cy="132588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3749039"/>
            <a:ext cx="64008" cy="1325880"/>
          </a:xfrm>
          <a:prstGeom prst="rect">
            <a:avLst/>
          </a:prstGeom>
          <a:solidFill>
            <a:srgbClr val="A5E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22208" y="3913631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A5EB5A"/>
                </a:solidFill>
                <a:latin typeface="Aptos"/>
              </a:defRPr>
            </a:pPr>
            <a:r>
              <a:t>Bin with hinged lid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4343400"/>
            <a:ext cx="3044952" cy="6126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4F8FA"/>
                </a:solidFill>
                <a:latin typeface="Aptos"/>
              </a:defRPr>
            </a:pPr>
            <a:r>
              <a:t>The physical container for waste.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D2BE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704088"/>
            <a:ext cx="640080" cy="41148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69880" y="320040"/>
            <a:ext cx="1097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B2C4CC"/>
                </a:solidFill>
                <a:latin typeface="Aptos"/>
              </a:defRPr>
            </a:pPr>
            <a:r>
              <a:t>06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3000" b="1" i="0">
                <a:solidFill>
                  <a:srgbClr val="F4F8FA"/>
                </a:solidFill>
                <a:latin typeface="Aptos"/>
              </a:defRPr>
            </a:pPr>
            <a:r>
              <a:t>Block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64208"/>
            <a:ext cx="10881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B2C4CC"/>
                </a:solidFill>
                <a:latin typeface="Aptos"/>
              </a:defRPr>
            </a:pPr>
            <a:r>
              <a:t>Signal flow from object detection to lid movement.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2C4CC"/>
                </a:solidFill>
                <a:latin typeface="Aptos"/>
              </a:defRPr>
            </a:pPr>
            <a:r>
              <a:t>SMART DUSTBIN  •  MINI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2D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737360" cy="1143000"/>
          </a:xfrm>
          <a:prstGeom prst="roundRect">
            <a:avLst/>
          </a:prstGeom>
          <a:solidFill>
            <a:srgbClr val="162A36"/>
          </a:solidFill>
          <a:ln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999232"/>
            <a:ext cx="16002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00D2BE"/>
                </a:solidFill>
                <a:latin typeface="Aptos"/>
              </a:defRPr>
            </a:pPr>
            <a:r>
              <a:t>Hand / Object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364992"/>
            <a:ext cx="1600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000" b="0" i="0">
                <a:solidFill>
                  <a:srgbClr val="B2C4CC"/>
                </a:solidFill>
                <a:latin typeface="Aptos"/>
              </a:defRPr>
            </a:pPr>
            <a:r>
              <a:t>Near the bin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743200"/>
            <a:ext cx="1737360" cy="1143000"/>
          </a:xfrm>
          <a:prstGeom prst="roundRect">
            <a:avLst/>
          </a:prstGeom>
          <a:solidFill>
            <a:srgbClr val="162A36"/>
          </a:solidFill>
          <a:ln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999232"/>
            <a:ext cx="16002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00D2BE"/>
                </a:solidFill>
                <a:latin typeface="Aptos"/>
              </a:defRPr>
            </a:pPr>
            <a:r>
              <a:t>HC-SR04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3364992"/>
            <a:ext cx="1600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000" b="0" i="0">
                <a:solidFill>
                  <a:srgbClr val="B2C4CC"/>
                </a:solidFill>
                <a:latin typeface="Aptos"/>
              </a:defRPr>
            </a:pPr>
            <a:r>
              <a:t>Distance reading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2743200"/>
            <a:ext cx="1737360" cy="1143000"/>
          </a:xfrm>
          <a:prstGeom prst="roundRect">
            <a:avLst/>
          </a:prstGeom>
          <a:solidFill>
            <a:srgbClr val="162A36"/>
          </a:solidFill>
          <a:ln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2" y="2999232"/>
            <a:ext cx="16002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00D2BE"/>
                </a:solidFill>
                <a:latin typeface="Aptos"/>
              </a:defRPr>
            </a:pPr>
            <a:r>
              <a:t>Arduino Uno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3364992"/>
            <a:ext cx="1600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000" b="0" i="0">
                <a:solidFill>
                  <a:srgbClr val="B2C4CC"/>
                </a:solidFill>
                <a:latin typeface="Aptos"/>
              </a:defRPr>
            </a:pPr>
            <a:r>
              <a:t>Decision logic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743200"/>
            <a:ext cx="1737360" cy="1143000"/>
          </a:xfrm>
          <a:prstGeom prst="roundRect">
            <a:avLst/>
          </a:prstGeom>
          <a:solidFill>
            <a:srgbClr val="162A36"/>
          </a:solidFill>
          <a:ln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2999232"/>
            <a:ext cx="16002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00D2BE"/>
                </a:solidFill>
                <a:latin typeface="Aptos"/>
              </a:defRPr>
            </a:pPr>
            <a:r>
              <a:t>Servo Motor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3364992"/>
            <a:ext cx="1600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000" b="0" i="0">
                <a:solidFill>
                  <a:srgbClr val="B2C4CC"/>
                </a:solidFill>
                <a:latin typeface="Aptos"/>
              </a:defRPr>
            </a:pPr>
            <a:r>
              <a:t>Lid movement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2743200"/>
            <a:ext cx="1737360" cy="1143000"/>
          </a:xfrm>
          <a:prstGeom prst="roundRect">
            <a:avLst/>
          </a:prstGeom>
          <a:solidFill>
            <a:srgbClr val="162A36"/>
          </a:solidFill>
          <a:ln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65792" y="2999232"/>
            <a:ext cx="16002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00D2BE"/>
                </a:solidFill>
                <a:latin typeface="Aptos"/>
              </a:defRPr>
            </a:pPr>
            <a:r>
              <a:t>Dustbin Lid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3364992"/>
            <a:ext cx="1600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000" b="0" i="0">
                <a:solidFill>
                  <a:srgbClr val="B2C4CC"/>
                </a:solidFill>
                <a:latin typeface="Aptos"/>
              </a:defRPr>
            </a:pPr>
            <a:r>
              <a:t>Open / close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3054096"/>
            <a:ext cx="320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2200" b="1" i="0">
                <a:solidFill>
                  <a:srgbClr val="A5EB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2312" y="3054096"/>
            <a:ext cx="320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2200" b="1" i="0">
                <a:solidFill>
                  <a:srgbClr val="A5EB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3054096"/>
            <a:ext cx="320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2200" b="1" i="0">
                <a:solidFill>
                  <a:srgbClr val="A5EB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3054096"/>
            <a:ext cx="320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2200" b="1" i="0">
                <a:solidFill>
                  <a:srgbClr val="A5EB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500" b="0" i="0">
                <a:solidFill>
                  <a:srgbClr val="F4F8FA"/>
                </a:solidFill>
                <a:latin typeface="Aptos"/>
              </a:defRPr>
            </a:pPr>
            <a:r>
              <a:t>Power supply: 9V battery + connector (use suitable regulated supply for the board and servo).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D2BE"/>
                </a:solidFill>
                <a:latin typeface="Aptos"/>
              </a:defRPr>
            </a:pPr>
            <a:r>
              <a:t>HOW IT SENSES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704088"/>
            <a:ext cx="640080" cy="41148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69880" y="320040"/>
            <a:ext cx="1097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B2C4CC"/>
                </a:solidFill>
                <a:latin typeface="Aptos"/>
              </a:defRPr>
            </a:pPr>
            <a:r>
              <a:t>07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3000" b="1" i="0">
                <a:solidFill>
                  <a:srgbClr val="F4F8FA"/>
                </a:solidFill>
                <a:latin typeface="Aptos"/>
              </a:defRPr>
            </a:pPr>
            <a:r>
              <a:t>HC-SR04 Ultrasonic Sensor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64208"/>
            <a:ext cx="10881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B2C4CC"/>
                </a:solidFill>
                <a:latin typeface="Aptos"/>
              </a:defRPr>
            </a:pPr>
            <a:r>
              <a:t>It estimates distance using the time taken by an ultrasonic echo.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2C4CC"/>
                </a:solidFill>
                <a:latin typeface="Aptos"/>
              </a:defRPr>
            </a:pPr>
            <a:r>
              <a:t>SMART DUSTBIN  •  MINI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2D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4754880" cy="233172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331720"/>
            <a:ext cx="64008" cy="233172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496312"/>
            <a:ext cx="437083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D2BE"/>
                </a:solidFill>
                <a:latin typeface="Aptos"/>
              </a:defRPr>
            </a:pPr>
            <a:r>
              <a:t>TRIG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926079"/>
            <a:ext cx="4370832" cy="16184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4F8FA"/>
                </a:solidFill>
                <a:latin typeface="Aptos"/>
              </a:defRPr>
            </a:pPr>
            <a:r>
              <a:t>Arduino sends a short trigger pulse; the sensor emits ultrasonic sound waves.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2331720"/>
            <a:ext cx="4754880" cy="233172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29400" y="2331720"/>
            <a:ext cx="64008" cy="2331720"/>
          </a:xfrm>
          <a:prstGeom prst="rect">
            <a:avLst/>
          </a:prstGeom>
          <a:solidFill>
            <a:srgbClr val="A5E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0568" y="2496312"/>
            <a:ext cx="437083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A5EB5A"/>
                </a:solidFill>
                <a:latin typeface="Aptos"/>
              </a:defRPr>
            </a:pPr>
            <a:r>
              <a:t>ECHO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2926079"/>
            <a:ext cx="4370832" cy="16184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4F8FA"/>
                </a:solidFill>
                <a:latin typeface="Aptos"/>
              </a:defRPr>
            </a:pPr>
            <a:r>
              <a:t>The returning echo pulse duration is used to estimate the distance.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074920"/>
            <a:ext cx="85953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2000" b="1" i="0">
                <a:solidFill>
                  <a:srgbClr val="00D2BE"/>
                </a:solidFill>
                <a:latin typeface="Aptos"/>
              </a:defRPr>
            </a:pPr>
            <a:r>
              <a:t>Distance ≈ (Echo time × speed of sound) ÷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D2BE"/>
                </a:solidFill>
                <a:latin typeface="Aptos"/>
              </a:defRPr>
            </a:pPr>
            <a:r>
              <a:t>MOTION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704088"/>
            <a:ext cx="640080" cy="41148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69880" y="320040"/>
            <a:ext cx="1097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B2C4CC"/>
                </a:solidFill>
                <a:latin typeface="Aptos"/>
              </a:defRPr>
            </a:pPr>
            <a:r>
              <a:t>08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3000" b="1" i="0">
                <a:solidFill>
                  <a:srgbClr val="F4F8FA"/>
                </a:solidFill>
                <a:latin typeface="Aptos"/>
              </a:defRPr>
            </a:pPr>
            <a:r>
              <a:t>Role of the Servo Motor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64208"/>
            <a:ext cx="10881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B2C4CC"/>
                </a:solidFill>
                <a:latin typeface="Aptos"/>
              </a:defRPr>
            </a:pPr>
            <a:r>
              <a:t>The servo turns to a chosen angle to lift and lower the lid.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2C4CC"/>
                </a:solidFill>
                <a:latin typeface="Aptos"/>
              </a:defRPr>
            </a:pPr>
            <a:r>
              <a:t>SMART DUSTBIN  •  MINI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2D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331720"/>
            <a:ext cx="3383280" cy="214884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331720"/>
            <a:ext cx="64008" cy="214884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496312"/>
            <a:ext cx="299923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D2BE"/>
                </a:solidFill>
                <a:latin typeface="Aptos"/>
              </a:defRPr>
            </a:pPr>
            <a:r>
              <a:t>CLOSED 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926079"/>
            <a:ext cx="2999232" cy="1435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4F8FA"/>
                </a:solidFill>
                <a:latin typeface="Aptos"/>
              </a:defRPr>
            </a:pPr>
            <a:r>
              <a:t>The lid rests over the bin when no object is detected.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331720"/>
            <a:ext cx="3383280" cy="214884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331720"/>
            <a:ext cx="64008" cy="2148840"/>
          </a:xfrm>
          <a:prstGeom prst="rect">
            <a:avLst/>
          </a:prstGeom>
          <a:solidFill>
            <a:srgbClr val="A5E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7" y="2496312"/>
            <a:ext cx="299923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A5EB5A"/>
                </a:solidFill>
                <a:latin typeface="Aptos"/>
              </a:defRPr>
            </a:pPr>
            <a:r>
              <a:t>OPEN 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926079"/>
            <a:ext cx="2999232" cy="1435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4F8FA"/>
                </a:solidFill>
                <a:latin typeface="Aptos"/>
              </a:defRPr>
            </a:pPr>
            <a:r>
              <a:t>The servo rotates to lift the lid when the sensor detects a nearby object.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331720"/>
            <a:ext cx="3383280" cy="214884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331720"/>
            <a:ext cx="64008" cy="214884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496312"/>
            <a:ext cx="299923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D2BE"/>
                </a:solidFill>
                <a:latin typeface="Aptos"/>
              </a:defRPr>
            </a:pPr>
            <a:r>
              <a:t>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926079"/>
            <a:ext cx="2999232" cy="1435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4F8FA"/>
                </a:solidFill>
                <a:latin typeface="Aptos"/>
              </a:defRPr>
            </a:pPr>
            <a:r>
              <a:t>After a short delay, the servo returns the lid to its closed position.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102412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0" i="0">
                <a:solidFill>
                  <a:srgbClr val="B2C4CC"/>
                </a:solidFill>
                <a:latin typeface="Aptos"/>
              </a:defRPr>
            </a:pPr>
            <a:r>
              <a:t>A lightweight lid and a secure servo linkage help the mechanism work reliably.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D2BE"/>
                </a:solidFill>
                <a:latin typeface="Aptos"/>
              </a:defRPr>
            </a:pPr>
            <a:r>
              <a:t>OPERATION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704088"/>
            <a:ext cx="640080" cy="41148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69880" y="320040"/>
            <a:ext cx="1097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B2C4CC"/>
                </a:solidFill>
                <a:latin typeface="Aptos"/>
              </a:defRPr>
            </a:pPr>
            <a:r>
              <a:t>09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3000" b="1" i="0">
                <a:solidFill>
                  <a:srgbClr val="F4F8FA"/>
                </a:solidFill>
                <a:latin typeface="Aptos"/>
              </a:defRPr>
            </a:pPr>
            <a:r>
              <a:t>Working Principle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64208"/>
            <a:ext cx="10881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B2C4CC"/>
                </a:solidFill>
                <a:latin typeface="Aptos"/>
              </a:defRPr>
            </a:pPr>
            <a:r>
              <a:t>A simple four-step automatic 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2C4CC"/>
                </a:solidFill>
                <a:latin typeface="Aptos"/>
              </a:defRPr>
            </a:pPr>
            <a:r>
              <a:t>SMART DUSTBIN  •  MINI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2D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148840"/>
            <a:ext cx="5120640" cy="123444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50008"/>
            <a:ext cx="5486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200" b="1" i="0">
                <a:solidFill>
                  <a:srgbClr val="00D2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313432"/>
            <a:ext cx="38404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4F8FA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679192"/>
            <a:ext cx="38862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4CC"/>
                </a:solidFill>
                <a:latin typeface="Aptos"/>
              </a:defRPr>
            </a:pPr>
            <a:r>
              <a:t>The HC-SR04 measures the distance to a hand or object.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148840"/>
            <a:ext cx="5120640" cy="123444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7" y="2350008"/>
            <a:ext cx="5486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200" b="1" i="0">
                <a:solidFill>
                  <a:srgbClr val="00D2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9" y="2313432"/>
            <a:ext cx="38404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4F8FA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59" y="2679192"/>
            <a:ext cx="38862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4CC"/>
                </a:solidFill>
                <a:latin typeface="Aptos"/>
              </a:defRPr>
            </a:pPr>
            <a:r>
              <a:t>Arduino compares the distance with a set threshold.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49039"/>
            <a:ext cx="5120640" cy="123444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3950207"/>
            <a:ext cx="5486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200" b="1" i="0">
                <a:solidFill>
                  <a:srgbClr val="00D2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913631"/>
            <a:ext cx="38404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4F8FA"/>
                </a:solidFill>
                <a:latin typeface="Aptos"/>
              </a:defRPr>
            </a:pPr>
            <a:r>
              <a:t>Open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279392"/>
            <a:ext cx="38862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4CC"/>
                </a:solidFill>
                <a:latin typeface="Aptos"/>
              </a:defRPr>
            </a:pPr>
            <a:r>
              <a:t>Arduino commands the servo to open the lid.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3749039"/>
            <a:ext cx="5120640" cy="123444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7" y="3950207"/>
            <a:ext cx="5486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2200" b="1" i="0">
                <a:solidFill>
                  <a:srgbClr val="00D2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59" y="3913631"/>
            <a:ext cx="38404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4F8FA"/>
                </a:solidFill>
                <a:latin typeface="Aptos"/>
              </a:defRPr>
            </a:pPr>
            <a:r>
              <a:t>Close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4279392"/>
            <a:ext cx="38862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4CC"/>
                </a:solidFill>
                <a:latin typeface="Aptos"/>
              </a:defRPr>
            </a:pPr>
            <a:r>
              <a:t>After a brief wait, the servo closes the lid.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D2BE"/>
                </a:solidFill>
                <a:latin typeface="Aptos"/>
              </a:defRPr>
            </a:pPr>
            <a:r>
              <a:t>CONTROL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704088"/>
            <a:ext cx="640080" cy="41148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69880" y="320040"/>
            <a:ext cx="1097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B2C4CC"/>
                </a:solidFill>
                <a:latin typeface="Aptos"/>
              </a:defRPr>
            </a:pPr>
            <a:r>
              <a:t>10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3000" b="1" i="0">
                <a:solidFill>
                  <a:srgbClr val="F4F8FA"/>
                </a:solidFill>
                <a:latin typeface="Aptos"/>
              </a:defRPr>
            </a:pPr>
            <a:r>
              <a:t>Algorithm / Flowchart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64208"/>
            <a:ext cx="10881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B2C4CC"/>
                </a:solidFill>
                <a:latin typeface="Aptos"/>
              </a:defRPr>
            </a:pPr>
            <a:r>
              <a:t>The program repeats this sequence continuously.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2C4CC"/>
                </a:solidFill>
                <a:latin typeface="Aptos"/>
              </a:defRPr>
            </a:pPr>
            <a:r>
              <a:t>SMART DUSTBIN  •  MINI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2D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240280"/>
            <a:ext cx="1965960" cy="658368"/>
          </a:xfrm>
          <a:prstGeom prst="roundRect">
            <a:avLst/>
          </a:prstGeom>
          <a:solidFill>
            <a:srgbClr val="00D2BE"/>
          </a:solidFill>
          <a:ln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423160"/>
            <a:ext cx="18196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060F17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240280"/>
            <a:ext cx="2286000" cy="658368"/>
          </a:xfrm>
          <a:prstGeom prst="roundRect">
            <a:avLst/>
          </a:prstGeom>
          <a:solidFill>
            <a:srgbClr val="162A36"/>
          </a:solidFill>
          <a:ln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2423160"/>
            <a:ext cx="21396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4F8FA"/>
                </a:solidFill>
                <a:latin typeface="Aptos"/>
              </a:defRPr>
            </a:pPr>
            <a:r>
              <a:t>Read distance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40280"/>
            <a:ext cx="2377440" cy="658368"/>
          </a:xfrm>
          <a:prstGeom prst="roundRect">
            <a:avLst/>
          </a:prstGeom>
          <a:solidFill>
            <a:srgbClr val="234249"/>
          </a:solidFill>
          <a:ln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2423160"/>
            <a:ext cx="223113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4F8FA"/>
                </a:solidFill>
                <a:latin typeface="Aptos"/>
              </a:defRPr>
            </a:pPr>
            <a:r>
              <a:t>Object within range?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874519"/>
            <a:ext cx="2148840" cy="658368"/>
          </a:xfrm>
          <a:prstGeom prst="roundRect">
            <a:avLst/>
          </a:prstGeom>
          <a:solidFill>
            <a:srgbClr val="00D2BE"/>
          </a:solidFill>
          <a:ln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2057400"/>
            <a:ext cx="200253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060F17"/>
                </a:solidFill>
                <a:latin typeface="Aptos"/>
              </a:defRPr>
            </a:pPr>
            <a:r>
              <a:t>YES → Open lid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2834640"/>
            <a:ext cx="2148840" cy="658368"/>
          </a:xfrm>
          <a:prstGeom prst="roundRect">
            <a:avLst/>
          </a:prstGeom>
          <a:solidFill>
            <a:srgbClr val="162A36"/>
          </a:solidFill>
          <a:ln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9992" y="3017520"/>
            <a:ext cx="200253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4F8FA"/>
                </a:solidFill>
                <a:latin typeface="Aptos"/>
              </a:defRPr>
            </a:pPr>
            <a:r>
              <a:t>NO → Keep closed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975104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A5EB5A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01752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A5EB5A"/>
                </a:solidFill>
                <a:latin typeface="Aptos"/>
              </a:defRPr>
            </a:pPr>
            <a:r>
              <a:t>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251960"/>
            <a:ext cx="832104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F4F8FA"/>
                </a:solidFill>
                <a:latin typeface="Aptos"/>
              </a:defRPr>
            </a:pPr>
            <a:r>
              <a:t>Wait briefly → close lid → repeat from distance reading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029200"/>
            <a:ext cx="9601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B2C4CC"/>
                </a:solidFill>
                <a:latin typeface="Aptos"/>
              </a:defRPr>
            </a:pPr>
            <a:r>
              <a:t>Illustrative logic; the Arduino sketch defines the exact threshold, angle and delay.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D2BE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704088"/>
            <a:ext cx="640080" cy="41148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69880" y="320040"/>
            <a:ext cx="1097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B2C4CC"/>
                </a:solidFill>
                <a:latin typeface="Aptos"/>
              </a:defRPr>
            </a:pPr>
            <a:r>
              <a:t>11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3000" b="1" i="0">
                <a:solidFill>
                  <a:srgbClr val="F4F8FA"/>
                </a:solidFill>
                <a:latin typeface="Aptos"/>
              </a:defRPr>
            </a:pPr>
            <a:r>
              <a:t>Project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64208"/>
            <a:ext cx="10881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B2C4CC"/>
                </a:solidFill>
                <a:latin typeface="Aptos"/>
              </a:defRPr>
            </a:pPr>
            <a:r>
              <a:t>Practical benefits of a touchless waste bin.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2C4CC"/>
                </a:solidFill>
                <a:latin typeface="Aptos"/>
              </a:defRPr>
            </a:pPr>
            <a:r>
              <a:t>SMART DUSTBIN  •  MINI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2D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148840"/>
            <a:ext cx="3429000" cy="123444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148840"/>
            <a:ext cx="64008" cy="123444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313432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D2BE"/>
                </a:solidFill>
                <a:latin typeface="Aptos"/>
              </a:defRPr>
            </a:pPr>
            <a:r>
              <a:t>More hygienic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743200"/>
            <a:ext cx="3044952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F4F8FA"/>
                </a:solidFill>
                <a:latin typeface="Aptos"/>
              </a:defRPr>
            </a:pPr>
            <a:r>
              <a:t>Less need to touch the lid.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148840"/>
            <a:ext cx="3429000" cy="123444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2148840"/>
            <a:ext cx="64008" cy="1234440"/>
          </a:xfrm>
          <a:prstGeom prst="rect">
            <a:avLst/>
          </a:prstGeom>
          <a:solidFill>
            <a:srgbClr val="A5E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2313432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A5EB5A"/>
                </a:solidFill>
                <a:latin typeface="Aptos"/>
              </a:defRPr>
            </a:pPr>
            <a:r>
              <a:t>Convenient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2743200"/>
            <a:ext cx="3044952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F4F8FA"/>
                </a:solidFill>
                <a:latin typeface="Aptos"/>
              </a:defRPr>
            </a:pPr>
            <a:r>
              <a:t>Can be used when hands are occupied.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148840"/>
            <a:ext cx="3429000" cy="123444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2148840"/>
            <a:ext cx="64008" cy="123444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7928" y="2313432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D2BE"/>
                </a:solidFill>
                <a:latin typeface="Aptos"/>
              </a:defRPr>
            </a:pPr>
            <a:r>
              <a:t>Automatic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2743200"/>
            <a:ext cx="3044952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F4F8FA"/>
                </a:solidFill>
                <a:latin typeface="Aptos"/>
              </a:defRPr>
            </a:pPr>
            <a:r>
              <a:t>Opens and closes with minimal user effort.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49039"/>
            <a:ext cx="3429000" cy="123444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749039"/>
            <a:ext cx="64008" cy="1234440"/>
          </a:xfrm>
          <a:prstGeom prst="rect">
            <a:avLst/>
          </a:prstGeom>
          <a:solidFill>
            <a:srgbClr val="A5E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3913631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A5EB5A"/>
                </a:solidFill>
                <a:latin typeface="Aptos"/>
              </a:defRPr>
            </a:pPr>
            <a:r>
              <a:t>Affordable prototype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4343400"/>
            <a:ext cx="3044952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F4F8FA"/>
                </a:solidFill>
                <a:latin typeface="Aptos"/>
              </a:defRPr>
            </a:pPr>
            <a:r>
              <a:t>Uses widely available electronic components.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749039"/>
            <a:ext cx="3429000" cy="123444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3749039"/>
            <a:ext cx="64008" cy="123444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3913631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D2BE"/>
                </a:solidFill>
                <a:latin typeface="Aptos"/>
              </a:defRPr>
            </a:pPr>
            <a:r>
              <a:t>Educational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4343400"/>
            <a:ext cx="3044952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F4F8FA"/>
                </a:solidFill>
                <a:latin typeface="Aptos"/>
              </a:defRPr>
            </a:pPr>
            <a:r>
              <a:t>Demonstrates sensors, control and embedded programming.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6760" y="3749039"/>
            <a:ext cx="3429000" cy="123444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66760" y="3749039"/>
            <a:ext cx="64008" cy="1234440"/>
          </a:xfrm>
          <a:prstGeom prst="rect">
            <a:avLst/>
          </a:prstGeom>
          <a:solidFill>
            <a:srgbClr val="A5E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67928" y="3913631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A5EB5A"/>
                </a:solidFill>
                <a:latin typeface="Aptos"/>
              </a:defRPr>
            </a:pPr>
            <a:r>
              <a:t>Expandable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67928" y="4343400"/>
            <a:ext cx="3044952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F4F8FA"/>
                </a:solidFill>
                <a:latin typeface="Aptos"/>
              </a:defRPr>
            </a:pPr>
            <a:r>
              <a:t>Can later add a full-bin sensor or buzzer.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D2BE"/>
                </a:solidFill>
                <a:latin typeface="Aptos"/>
              </a:defRPr>
            </a:pPr>
            <a:r>
              <a:t>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704088"/>
            <a:ext cx="640080" cy="41148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69880" y="320040"/>
            <a:ext cx="1097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B2C4CC"/>
                </a:solidFill>
                <a:latin typeface="Aptos"/>
              </a:defRPr>
            </a:pPr>
            <a:r>
              <a:t>12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3000" b="1" i="0">
                <a:solidFill>
                  <a:srgbClr val="F4F8FA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64208"/>
            <a:ext cx="10881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B2C4CC"/>
                </a:solidFill>
                <a:latin typeface="Aptos"/>
              </a:defRPr>
            </a:pPr>
            <a:r>
              <a:t>Where a smart dustbin can be useful.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2C4CC"/>
                </a:solidFill>
                <a:latin typeface="Aptos"/>
              </a:defRPr>
            </a:pPr>
            <a:r>
              <a:t>SMART DUSTBIN  •  MINI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2D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240280"/>
            <a:ext cx="5029200" cy="105156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1828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D2BE"/>
                </a:solidFill>
                <a:latin typeface="Aptos"/>
              </a:defRPr>
            </a:pPr>
            <a:r>
              <a:t>Homes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59736"/>
            <a:ext cx="29260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F4F8FA"/>
                </a:solidFill>
                <a:latin typeface="Aptos"/>
              </a:defRPr>
            </a:pPr>
            <a:r>
              <a:t>Kitchen and common areas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240280"/>
            <a:ext cx="5029200" cy="105156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441448"/>
            <a:ext cx="1828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D2BE"/>
                </a:solidFill>
                <a:latin typeface="Aptos"/>
              </a:defRPr>
            </a:pPr>
            <a:r>
              <a:t>Schools &amp; colleges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459736"/>
            <a:ext cx="29260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F4F8FA"/>
                </a:solidFill>
                <a:latin typeface="Aptos"/>
              </a:defRPr>
            </a:pPr>
            <a:r>
              <a:t>Classrooms, labs and corridors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57600"/>
            <a:ext cx="5029200" cy="105156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858768"/>
            <a:ext cx="1828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D2BE"/>
                </a:solidFill>
                <a:latin typeface="Aptos"/>
              </a:defRPr>
            </a:pPr>
            <a:r>
              <a:t>Offices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877056"/>
            <a:ext cx="29260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F4F8FA"/>
                </a:solidFill>
                <a:latin typeface="Aptos"/>
              </a:defRPr>
            </a:pPr>
            <a:r>
              <a:t>Shared workspaces and meeting areas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657600"/>
            <a:ext cx="5029200" cy="105156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858768"/>
            <a:ext cx="1828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D2BE"/>
                </a:solidFill>
                <a:latin typeface="Aptos"/>
              </a:defRPr>
            </a:pPr>
            <a:r>
              <a:t>Clinics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877056"/>
            <a:ext cx="29260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F4F8FA"/>
                </a:solidFill>
                <a:latin typeface="Aptos"/>
              </a:defRPr>
            </a:pPr>
            <a:r>
              <a:t>Areas where touchless disposal is useful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D2BE"/>
                </a:solidFill>
                <a:latin typeface="Aptos"/>
              </a:defRPr>
            </a:pPr>
            <a:r>
              <a:t>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704088"/>
            <a:ext cx="640080" cy="41148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69880" y="320040"/>
            <a:ext cx="1097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B2C4CC"/>
                </a:solidFill>
                <a:latin typeface="Aptos"/>
              </a:defRPr>
            </a:pPr>
            <a:r>
              <a:t>13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3000" b="1" i="0">
                <a:solidFill>
                  <a:srgbClr val="F4F8FA"/>
                </a:solidFill>
                <a:latin typeface="Aptos"/>
              </a:defRPr>
            </a:pPr>
            <a:r>
              <a:t>Limitations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64208"/>
            <a:ext cx="10881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B2C4CC"/>
                </a:solidFill>
                <a:latin typeface="Aptos"/>
              </a:defRPr>
            </a:pPr>
            <a:r>
              <a:t>Possible upgrades for a more reliable smart waste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2C4CC"/>
                </a:solidFill>
                <a:latin typeface="Aptos"/>
              </a:defRPr>
            </a:pPr>
            <a:r>
              <a:t>SMART DUSTBIN  •  MINI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2D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194560"/>
            <a:ext cx="5120640" cy="233172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194560"/>
            <a:ext cx="64008" cy="233172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3659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D2BE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788920"/>
            <a:ext cx="4736592" cy="16184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F4F8FA"/>
                </a:solidFill>
                <a:latin typeface="Aptos"/>
              </a:defRPr>
            </a:pPr>
            <a:r>
              <a:t>• Limited detection range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F4F8FA"/>
                </a:solidFill>
                <a:latin typeface="Aptos"/>
              </a:defRPr>
            </a:pPr>
            <a:r>
              <a:t>• Battery needs recharging/replacement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F4F8FA"/>
                </a:solidFill>
                <a:latin typeface="Aptos"/>
              </a:defRPr>
            </a:pPr>
            <a:r>
              <a:t>• Lid mechanism needs careful alignment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94560"/>
            <a:ext cx="5120640" cy="2331720"/>
          </a:xfrm>
          <a:prstGeom prst="roundRect">
            <a:avLst/>
          </a:prstGeom>
          <a:solidFill>
            <a:srgbClr val="1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194560"/>
            <a:ext cx="64008" cy="2331720"/>
          </a:xfrm>
          <a:prstGeom prst="rect">
            <a:avLst/>
          </a:prstGeom>
          <a:solidFill>
            <a:srgbClr val="A5E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2359152"/>
            <a:ext cx="473659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A5EB5A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788920"/>
            <a:ext cx="4736592" cy="16184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F4F8FA"/>
                </a:solidFill>
                <a:latin typeface="Aptos"/>
              </a:defRPr>
            </a:pPr>
            <a:r>
              <a:t>• Full-bin sensor and buzzer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F4F8FA"/>
                </a:solidFill>
                <a:latin typeface="Aptos"/>
              </a:defRPr>
            </a:pPr>
            <a:r>
              <a:t>• Wi-Fi / IoT notifications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F4F8FA"/>
                </a:solidFill>
                <a:latin typeface="Aptos"/>
              </a:defRPr>
            </a:pPr>
            <a:r>
              <a:t>• Solar or rechargeable power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F4F8FA"/>
                </a:solidFill>
                <a:latin typeface="Aptos"/>
              </a:defRPr>
            </a:pPr>
            <a:r>
              <a:t>• Improved enclosure and lid linkage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104241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200" b="0" i="1">
                <a:solidFill>
                  <a:srgbClr val="B2C4CC"/>
                </a:solidFill>
                <a:latin typeface="Aptos"/>
              </a:defRPr>
            </a:pPr>
            <a:r>
              <a:t>Note: Fill-level monitoring and phone alerts are optional and are not part of the basic component list.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4572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00D2B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7498079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3400" b="1" i="0">
                <a:solidFill>
                  <a:srgbClr val="F4F8FA"/>
                </a:solidFill>
                <a:latin typeface="Aptos"/>
              </a:defRPr>
            </a:pPr>
            <a:r>
              <a:t>A small step toward</a:t>
            </a:r>
          </a:p>
          <a:p>
            <a:pPr algn="l">
              <a:spcAft>
                <a:spcPts val="700"/>
              </a:spcAft>
              <a:defRPr sz="3400" b="1" i="0">
                <a:solidFill>
                  <a:srgbClr val="F4F8FA"/>
                </a:solidFill>
                <a:latin typeface="Aptos"/>
              </a:defRPr>
            </a:pPr>
            <a:r>
              <a:t>smarter, cleaner disposal.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6858000" cy="1188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B2C4CC"/>
                </a:solidFill>
                <a:latin typeface="Aptos"/>
              </a:defRPr>
            </a:pPr>
            <a:r>
              <a:t>SMART DUSTBIN uses an ultrasonic sensor, Arduino Uno and servo motor to automate lid movement. The prototype demonstrates how embedded systems can make everyday tasks more convenient and hygienic.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828800"/>
            <a:ext cx="2148840" cy="2377440"/>
          </a:xfrm>
          <a:prstGeom prst="roundRect">
            <a:avLst/>
          </a:prstGeom>
          <a:solidFill>
            <a:srgbClr val="244B53"/>
          </a:solidFill>
          <a:ln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21040" y="1554480"/>
            <a:ext cx="2606040" cy="320040"/>
          </a:xfrm>
          <a:prstGeom prst="round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4709160"/>
            <a:ext cx="32004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2200" b="1" i="0">
                <a:solidFill>
                  <a:srgbClr val="A5EB5A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230368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0" i="0">
                <a:solidFill>
                  <a:srgbClr val="F4F8FA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2C4CC"/>
                </a:solidFill>
                <a:latin typeface="Aptos"/>
              </a:defRPr>
            </a:pPr>
            <a:r>
              <a:t>SMART DUSTBIN  •  MINI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364224"/>
            <a:ext cx="10972800" cy="10972"/>
          </a:xfrm>
          <a:prstGeom prst="rect">
            <a:avLst/>
          </a:prstGeom>
          <a:solidFill>
            <a:srgbClr val="2D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